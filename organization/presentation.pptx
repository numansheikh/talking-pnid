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9488"/>
                </a:solidFill>
              </a:rPr>
              <a:t>TALKING P&amp;IDs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</a:rPr>
              <a:t>Your drawings.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0D9488"/>
                </a:solidFill>
              </a:rPr>
              <a:t>Finally answering back.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4A3B8"/>
                </a:solidFill>
              </a:rPr>
              <a:t>AI-powered Q&amp;A for industrial Piping &amp; Instrumentation Diagrams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75569"/>
                </a:solidFill>
              </a:rPr>
              <a:t>ZeerakLabs  ·  talkingpnid.zeeraklabs.online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1">
                <a:solidFill>
                  <a:srgbClr val="FFFFFF"/>
                </a:solidFill>
              </a:rPr>
              <a:t>"Which isolation valves do I need to close?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6420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1">
                <a:solidFill>
                  <a:srgbClr val="FFFFFF"/>
                </a:solidFill>
              </a:rPr>
              <a:t>What's the design pressure of this vessel?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39696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1">
                <a:solidFill>
                  <a:srgbClr val="FFFFFF"/>
                </a:solidFill>
              </a:rPr>
              <a:t>What happens if this valve fails?"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15184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43784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9488"/>
                </a:solidFill>
              </a:rPr>
              <a:t>These questions should take 30 seconds.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192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1">
                <a:solidFill>
                  <a:srgbClr val="94A3B8"/>
                </a:solidFill>
              </a:rPr>
              <a:t>Today they take 30 minutes.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75569"/>
                </a:solidFill>
              </a:rPr>
              <a:t>— Every process facility, every shift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</a:rP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P&amp;IDs hold the knowledge. Accessing it is the problem.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5486400" cy="1920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Senior engineers = human search engines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Experienced staff are constantly interrupted for questions that should be self-service.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920240"/>
            <a:ext cx="5486400" cy="1920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0574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Shutdown prep takes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51460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Isolation lists, instrument checks, and spec break summaries are built manually.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114800"/>
            <a:ext cx="5486400" cy="1920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2519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New engineers take months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70916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Learning complex P&amp;IDs requires sustained mentorship that's hard to scale.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114800"/>
            <a:ext cx="5486400" cy="1920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2519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Field decisions without full information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70916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Engineers on the plant floor often work from memory — increasing error risk.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</a:rPr>
              <a:t>THE SHIFT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From hunting drawings to instant answers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120640" cy="4572000"/>
          </a:xfrm>
          <a:prstGeom prst="rect">
            <a:avLst/>
          </a:prstGeom>
          <a:solidFill>
            <a:srgbClr val="1F1010"/>
          </a:solidFill>
          <a:ln w="9525"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7171"/>
                </a:solidFill>
              </a:rPr>
              <a:t>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DD5E1"/>
                </a:solidFill>
              </a:rPr>
              <a:t>—  Search through paper or PDF drawings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DD5E1"/>
                </a:solidFill>
              </a:rPr>
              <a:t>—  Manually trace lines and connections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DD5E1"/>
                </a:solidFill>
              </a:rPr>
              <a:t>—  Call a senior engineer for help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03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DD5E1"/>
                </a:solidFill>
              </a:rPr>
              <a:t>—  Wait — and interrupt their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062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DD5E1"/>
                </a:solidFill>
              </a:rPr>
              <a:t>—  Get an answer that may be from 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36576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D9488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1645920"/>
            <a:ext cx="5120640" cy="4572000"/>
          </a:xfrm>
          <a:prstGeom prst="rect">
            <a:avLst/>
          </a:prstGeom>
          <a:solidFill>
            <a:srgbClr val="061E1C"/>
          </a:solidFill>
          <a:ln w="952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1783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</a:rPr>
              <a:t>WITH TALKING P&amp;IDs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1945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DD5E1"/>
                </a:solidFill>
              </a:rPr>
              <a:t>→  Open a browser on any device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697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DD5E1"/>
                </a:solidFill>
              </a:rPr>
              <a:t>→  Ask the question in plain English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32004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DD5E1"/>
                </a:solidFill>
              </a:rPr>
              <a:t>→  Get an answer with cited tag numbers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703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DD5E1"/>
                </a:solidFill>
              </a:rPr>
              <a:t>→  Ask follow-up questions naturally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42062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DD5E1"/>
                </a:solidFill>
              </a:rPr>
              <a:t>→  Available 24/7 to every engineer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</a:rPr>
              <a:t>IN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Real questions. Real answers.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1247120" cy="749808"/>
          </a:xfrm>
          <a:prstGeom prst="rect">
            <a:avLst/>
          </a:prstGeom>
          <a:solidFill>
            <a:srgbClr val="1A2335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4864" cy="7498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64208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2E8F0"/>
                </a:solidFill>
              </a:rPr>
              <a:t>"What are all the isolation valves for vessel 362-V001?"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0" y="1737360"/>
            <a:ext cx="1508760" cy="384048"/>
          </a:xfrm>
          <a:prstGeom prst="rect">
            <a:avLst/>
          </a:prstGeom>
          <a:solidFill>
            <a:srgbClr val="0D4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1737360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9488"/>
                </a:solidFill>
              </a:rPr>
              <a:t>Maintenance isolation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87168"/>
            <a:ext cx="11247120" cy="749808"/>
          </a:xfrm>
          <a:prstGeom prst="rect">
            <a:avLst/>
          </a:prstGeom>
          <a:solidFill>
            <a:srgbClr val="1A2335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487168"/>
            <a:ext cx="54864" cy="7498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96896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2E8F0"/>
                </a:solidFill>
              </a:rPr>
              <a:t>"EZV-0002 closes unexpectedly — what are the upstream effects and safeguards?"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0" y="2670048"/>
            <a:ext cx="1508760" cy="384048"/>
          </a:xfrm>
          <a:prstGeom prst="rect">
            <a:avLst/>
          </a:prstGeom>
          <a:solidFill>
            <a:srgbClr val="0D4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670048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9488"/>
                </a:solidFill>
              </a:rPr>
              <a:t>Troubleshooting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419856"/>
            <a:ext cx="11247120" cy="749808"/>
          </a:xfrm>
          <a:prstGeom prst="rect">
            <a:avLst/>
          </a:prstGeom>
          <a:solidFill>
            <a:srgbClr val="1A2335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419856"/>
            <a:ext cx="54864" cy="7498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529584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2E8F0"/>
                </a:solidFill>
              </a:rPr>
              <a:t>"List all locked-open and locked-closed valves on this P&amp;ID"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0" y="3602736"/>
            <a:ext cx="1508760" cy="384048"/>
          </a:xfrm>
          <a:prstGeom prst="rect">
            <a:avLst/>
          </a:prstGeom>
          <a:solidFill>
            <a:srgbClr val="0D4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0" y="3602736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9488"/>
                </a:solidFill>
              </a:rPr>
              <a:t>Valve lineup check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352544"/>
            <a:ext cx="11247120" cy="749808"/>
          </a:xfrm>
          <a:prstGeom prst="rect">
            <a:avLst/>
          </a:prstGeom>
          <a:solidFill>
            <a:srgbClr val="1A2335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352544"/>
            <a:ext cx="54864" cy="7498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462272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2E8F0"/>
                </a:solidFill>
              </a:rPr>
              <a:t>"What instruments have high-high or low-low alarm functions?"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0" y="4535424"/>
            <a:ext cx="1508760" cy="384048"/>
          </a:xfrm>
          <a:prstGeom prst="rect">
            <a:avLst/>
          </a:prstGeom>
          <a:solidFill>
            <a:srgbClr val="0D4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0" y="4535424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9488"/>
                </a:solidFill>
              </a:rPr>
              <a:t>Safety review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285232"/>
            <a:ext cx="11247120" cy="749808"/>
          </a:xfrm>
          <a:prstGeom prst="rect">
            <a:avLst/>
          </a:prstGeom>
          <a:solidFill>
            <a:srgbClr val="1A2335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285232"/>
            <a:ext cx="54864" cy="7498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39496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2E8F0"/>
                </a:solidFill>
              </a:rPr>
              <a:t>"Show me all spec breaks and their boundary equipment"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0" y="5468112"/>
            <a:ext cx="1508760" cy="384048"/>
          </a:xfrm>
          <a:prstGeom prst="rect">
            <a:avLst/>
          </a:prstGeom>
          <a:solidFill>
            <a:srgbClr val="0D4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0" y="5468112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9488"/>
                </a:solidFill>
              </a:rPr>
              <a:t>Integrity check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</a:rP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From your PDFs to answers in days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2286000"/>
            <a:ext cx="1005840" cy="1005840"/>
          </a:xfrm>
          <a:prstGeom prst="rect">
            <a:avLst/>
          </a:prstGeom>
          <a:solidFill>
            <a:srgbClr val="0D403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28600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9488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661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Send us
your P&amp;IDs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Scanned PDFs in any format — no CAD files needed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2606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D9488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2286000"/>
            <a:ext cx="1005840" cy="1005840"/>
          </a:xfrm>
          <a:prstGeom prst="rect">
            <a:avLst/>
          </a:prstGeom>
          <a:solidFill>
            <a:srgbClr val="0D403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228600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9488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5661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We process
them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438912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AI extracts full topology, attributes and relationships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606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D9488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0" y="2286000"/>
            <a:ext cx="1005840" cy="1005840"/>
          </a:xfrm>
          <a:prstGeom prst="rect">
            <a:avLst/>
          </a:prstGeom>
          <a:solidFill>
            <a:srgbClr val="0D403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228600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9488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5661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Validate with
your team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38912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Structured review with your engineers to confirm accuracy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2606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D9488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0" y="2286000"/>
            <a:ext cx="1005840" cy="1005840"/>
          </a:xfrm>
          <a:prstGeom prst="rect">
            <a:avLst/>
          </a:prstGeom>
          <a:solidFill>
            <a:srgbClr val="0D403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0" y="228600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9488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35661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Your team
queries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438912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Private, secure web app — any browser, any device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</a:rPr>
              <a:t>PROOF OF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Validated on real production oil field P&amp;IDs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3474720" cy="2194560"/>
          </a:xfrm>
          <a:prstGeom prst="rect">
            <a:avLst/>
          </a:prstGeom>
          <a:solidFill>
            <a:srgbClr val="061E1C"/>
          </a:solidFill>
          <a:ln w="952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D9488"/>
                </a:solidFill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Interconnected P&amp;IDs
from Rumaila oil field, Iraq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737360"/>
            <a:ext cx="3474720" cy="2194560"/>
          </a:xfrm>
          <a:prstGeom prst="rect">
            <a:avLst/>
          </a:prstGeom>
          <a:solidFill>
            <a:srgbClr val="061E1C"/>
          </a:solidFill>
          <a:ln w="952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D9488"/>
                </a:solidFill>
              </a:rPr>
              <a:t>79%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83464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Benchmark accuracy
on 10 engineering questions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1737360"/>
            <a:ext cx="3474720" cy="2194560"/>
          </a:xfrm>
          <a:prstGeom prst="rect">
            <a:avLst/>
          </a:prstGeom>
          <a:solidFill>
            <a:srgbClr val="061E1C"/>
          </a:solidFill>
          <a:ln w="952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8288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D9488"/>
                </a:solidFill>
              </a:rPr>
              <a:t>385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83464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Components modelled
across all three drawings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75488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</a:rPr>
              <a:t>Benchmarked against 10 representative engineering questions covering isolation valve lists, design conditions, troubleshooting scenarios, alarm functions, locked valve positions, spec breaks, and cross-diagram connections.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6858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Ready to try it
on your drawings?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3291840"/>
            <a:ext cx="6858000" cy="685800"/>
          </a:xfrm>
          <a:prstGeom prst="rect">
            <a:avLst/>
          </a:prstGeom>
          <a:solidFill>
            <a:srgbClr val="0B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 48-hour trial — Query 3 real P&amp;IDs right now at talkingpnid.zeeraklabs.online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114800"/>
            <a:ext cx="6858000" cy="685800"/>
          </a:xfrm>
          <a:prstGeom prst="rect">
            <a:avLst/>
          </a:prstGeom>
          <a:solidFill>
            <a:srgbClr val="0B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206240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 Structured pilot — We process your P&amp;IDs and work with your team to validate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937760"/>
            <a:ext cx="6858000" cy="685800"/>
          </a:xfrm>
          <a:prstGeom prst="rect">
            <a:avLst/>
          </a:prstGeom>
          <a:solidFill>
            <a:srgbClr val="0B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029200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 No commitment — The pilot gives a clear picture of fit before any contract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0" y="1828800"/>
            <a:ext cx="3383280" cy="2743200"/>
          </a:xfrm>
          <a:prstGeom prst="rect">
            <a:avLst/>
          </a:prstGeom>
          <a:solidFill>
            <a:srgbClr val="0B7A7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201168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talkingpnid
.zeeraklabs.online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35661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F2EE"/>
                </a:solidFill>
              </a:rPr>
              <a:t>hello@zeeraklabs.com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ZeerakLabs  ·  zeeraklabs.com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